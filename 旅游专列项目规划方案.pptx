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762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720000"/>
            <a:ext cx="38100" cy="36000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0000" y="108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A95A"/>
                </a:solidFill>
                <a:latin typeface="Microsoft YaHei"/>
              </a:defRPr>
            </a:pPr>
            <a:r>
              <a:t>员工专属旅游专列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872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项 目 规 划 方 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270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Microsoft YaHei"/>
              </a:defRPr>
            </a:pPr>
            <a:r>
              <a:t>7月25日 — 8月15日  |  全年2团  |  专属定制专列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80000" y="5688000"/>
            <a:ext cx="288000" cy="2880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2000" y="5688000"/>
            <a:ext cx="288000" cy="28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8A95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288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活动基础信息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57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ACTIVITY BASIC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864000"/>
            <a:ext cx="1800000" cy="381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440000"/>
            <a:ext cx="1872000" cy="306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440000"/>
            <a:ext cx="1872000" cy="508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000" y="1584000"/>
            <a:ext cx="1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A95A"/>
                </a:solidFill>
                <a:latin typeface="Microsoft YaHei"/>
              </a:defRPr>
            </a:pPr>
            <a:r>
              <a:t>⏰ 活动时间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" y="2088000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7月25日 — 8月15日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00" y="2339999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夏季黄金旅游窗口期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" y="2591998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避开学生暑假极端高峰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0000" y="1440000"/>
            <a:ext cx="1872000" cy="306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0000" y="1440000"/>
            <a:ext cx="1872000" cy="508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6000" y="1584000"/>
            <a:ext cx="1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A95A"/>
                </a:solidFill>
                <a:latin typeface="Microsoft YaHei"/>
              </a:defRPr>
            </a:pPr>
            <a:r>
              <a:t>🚂 出行周期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8000" y="2088000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周五晚间出发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8000" y="2339999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周六 + 周日 全天游玩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8000" y="2591998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周日晚间返程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8000" y="2843997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不占用工作时间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0000" y="1440000"/>
            <a:ext cx="1872000" cy="306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60000" y="1440000"/>
            <a:ext cx="1872000" cy="508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6000" y="1584000"/>
            <a:ext cx="1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A95A"/>
                </a:solidFill>
                <a:latin typeface="Microsoft YaHei"/>
              </a:defRPr>
            </a:pPr>
            <a:r>
              <a:t>🚃 专列载体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2088000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定制专属旅游专列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00" y="2339999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对标齐鲁一号运营模式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00" y="2591998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整列包车，专属使用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00" y="2843997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全程无需换乘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20000" y="1440000"/>
            <a:ext cx="1872000" cy="306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20000" y="1440000"/>
            <a:ext cx="1872000" cy="508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6000" y="1584000"/>
            <a:ext cx="1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A95A"/>
                </a:solidFill>
                <a:latin typeface="Microsoft YaHei"/>
              </a:defRPr>
            </a:pPr>
            <a:r>
              <a:t>🛏️ 专列配置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8000" y="2088000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整车定制卧铺车厢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8000" y="2339999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硬卧：60人/节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08000" y="2591998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软卧：40人/节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08000" y="2843997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按需灵活编组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8A95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288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发团及人员配置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57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DEPARTURE &amp; PERSONNEL ALLOCATION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864000"/>
            <a:ext cx="1800000" cy="381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440000"/>
            <a:ext cx="1620000" cy="10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440000"/>
            <a:ext cx="1620000" cy="508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000" y="154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95A"/>
                </a:solidFill>
                <a:latin typeface="Microsoft YaHei"/>
              </a:defRPr>
            </a:pPr>
            <a:r>
              <a:t>发团次数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1800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C8A95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234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全年专属团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20000" y="1440000"/>
            <a:ext cx="1620000" cy="10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20000" y="1440000"/>
            <a:ext cx="1620000" cy="508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6000" y="154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95A"/>
                </a:solidFill>
                <a:latin typeface="Microsoft YaHei"/>
              </a:defRPr>
            </a:pPr>
            <a:r>
              <a:t>员工规模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6000" y="1800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A95A"/>
                </a:solidFill>
                <a:latin typeface="Microsoft YaHei"/>
              </a:defRPr>
            </a:pPr>
            <a:r>
              <a:t>400-500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6000" y="234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人 / 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0000" y="1440000"/>
            <a:ext cx="1620000" cy="10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00000" y="1440000"/>
            <a:ext cx="1620000" cy="508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6000" y="154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95A"/>
                </a:solidFill>
                <a:latin typeface="Microsoft YaHei"/>
              </a:defRPr>
            </a:pPr>
            <a:r>
              <a:t>业主规模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000" y="1800000"/>
            <a:ext cx="12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A95A"/>
                </a:solidFill>
                <a:latin typeface="Microsoft YaHei"/>
              </a:defRPr>
            </a:pPr>
            <a:r>
              <a:t>200-300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6000" y="234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人/团  ≈100个家庭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3060000"/>
            <a:ext cx="86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C8A95A"/>
                </a:solidFill>
                <a:latin typeface="Microsoft YaHei"/>
              </a:defRPr>
            </a:pPr>
            <a:r>
              <a:t>👥 人员构成</a:t>
            </a:r>
          </a:p>
          <a:p>
            <a:pPr>
              <a:spcAft>
                <a:spcPts val="1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  ◆  企业员工 → 免费参与   （公司福利，全员覆盖）</a:t>
            </a:r>
          </a:p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  ◆  报名业主 → 阶梯收费   （5折 / 7折 优惠体系）</a:t>
            </a:r>
          </a:p>
          <a:p>
            <a:pPr>
              <a:spcAft>
                <a:spcPts val="1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📐 编组测算：500人硬卧需9节车厢  |  300人软卧需8节车厢  |  总编组灵活调配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8A95A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288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业主专属优惠政策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57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OWNER EXCLUSIVE DISCOUNT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864000"/>
            <a:ext cx="1800000" cy="381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440000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A95A"/>
                </a:solidFill>
                <a:latin typeface="Microsoft YaHei"/>
              </a:defRPr>
            </a:pPr>
            <a:r>
              <a:t>阶梯折扣体系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0" y="2340000"/>
            <a:ext cx="2880000" cy="14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0000" y="2340000"/>
            <a:ext cx="2880000" cy="508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000" y="2520000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C8A95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42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折 优 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3888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Microsoft YaHei"/>
              </a:defRPr>
            </a:pPr>
            <a:r>
              <a:t>早鸟报名 · 限时窗口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0000" y="2340000"/>
            <a:ext cx="2880000" cy="14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0000" y="2340000"/>
            <a:ext cx="2880000" cy="508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0" y="2520000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C8A95A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0" y="342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折 优 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0000" y="3888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Microsoft YaHei"/>
              </a:defRPr>
            </a:pPr>
            <a:r>
              <a:t>常规报名 · 灵活选择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432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8"/>
                </a:solidFill>
                <a:latin typeface="Microsoft YaHei"/>
              </a:defRPr>
            </a:pPr>
            <a:r>
              <a:t>注：具体折扣梯级及报名窗口期，可根据业主反馈灵活调整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8A95A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288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专列全场景包装布置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57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TRAIN BRANDING &amp; DECORATION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864000"/>
            <a:ext cx="1800000" cy="381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对标熊猫旅游专列 · 三位一体包装体系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800000"/>
            <a:ext cx="2700000" cy="25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800000"/>
            <a:ext cx="2700000" cy="508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1944000"/>
            <a:ext cx="22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A95A"/>
                </a:solidFill>
                <a:latin typeface="Microsoft YaHei"/>
              </a:defRPr>
            </a:pPr>
            <a:r>
              <a:t>🚂 外部包装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00" y="2448000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火车车体定制喷绘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" y="2699999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专属文案喷涂整车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00" y="2951998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企业IP形象植入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00" y="3203997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列车编号专属命名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6000" y="1800000"/>
            <a:ext cx="2700000" cy="25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6000" y="1800000"/>
            <a:ext cx="2700000" cy="508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2000" y="1944000"/>
            <a:ext cx="22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A95A"/>
                </a:solidFill>
                <a:latin typeface="Microsoft YaHei"/>
              </a:defRPr>
            </a:pPr>
            <a:r>
              <a:t>🎨 内部包装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4000" y="2448000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车厢整体主题定制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4000" y="2699999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卧铺软装统一风格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4000" y="2951998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走廊/餐车氛围布置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4000" y="3203997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企业文化元素贯穿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2000" y="1800000"/>
            <a:ext cx="2700000" cy="25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2000" y="1800000"/>
            <a:ext cx="2700000" cy="508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8000" y="1944000"/>
            <a:ext cx="22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A95A"/>
                </a:solidFill>
                <a:latin typeface="Microsoft YaHei"/>
              </a:defRPr>
            </a:pPr>
            <a:r>
              <a:t>🏫 火车站包装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0000" y="2448000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出发站整体氛围包装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0000" y="2699999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专属候车区布置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0000" y="2951998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引导标识系统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0000" y="3203997"/>
            <a:ext cx="2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▸ 出发仪式现场搭建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8A95A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288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全程定制特色餐饮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57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CUSTOMIZED CATERING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864000"/>
            <a:ext cx="1800000" cy="381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440000"/>
            <a:ext cx="3960000" cy="28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440000"/>
            <a:ext cx="3960000" cy="508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1548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A95A"/>
                </a:solidFill>
                <a:latin typeface="Microsoft YaHei"/>
              </a:defRPr>
            </a:pPr>
            <a:r>
              <a:t>🚂 去程餐饮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198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🌙  晚间 23:00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2268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icrosoft YaHei"/>
              </a:defRPr>
            </a:pPr>
            <a:r>
              <a:t>属地特色夜宵</a:t>
            </a:r>
            <a:br/>
            <a:r>
              <a:t>（例：途经济南站 → 济南特色小吃）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288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☀️  次日清晨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000" y="316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icrosoft YaHei"/>
              </a:defRPr>
            </a:pPr>
            <a:r>
              <a:t>专属定制早餐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88000" y="1440000"/>
            <a:ext cx="3960000" cy="28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88000" y="1440000"/>
            <a:ext cx="3960000" cy="508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0000" y="1548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A95A"/>
                </a:solidFill>
                <a:latin typeface="Microsoft YaHei"/>
              </a:defRPr>
            </a:pPr>
            <a:r>
              <a:t>🚂 返程餐饮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0000" y="198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🌙  晚间 23:00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8000" y="2268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icrosoft YaHei"/>
              </a:defRPr>
            </a:pPr>
            <a:r>
              <a:t>属地特色夜宵</a:t>
            </a:r>
            <a:br/>
            <a:r>
              <a:t>沿途站点特色美食配餐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0000" y="288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☀️  次日清晨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8000" y="316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Microsoft YaHei"/>
              </a:defRPr>
            </a:pPr>
            <a:r>
              <a:t>专属定制早餐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4500000"/>
            <a:ext cx="8208000" cy="4680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4572000"/>
            <a:ext cx="82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0F1F"/>
                </a:solidFill>
                <a:latin typeface="Microsoft YaHei"/>
              </a:defRPr>
            </a:pPr>
            <a:r>
              <a:t>核心亮点：全程根据途经站点匹配当地特色美食，打造“移动的美食之旅”体验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762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720000"/>
            <a:ext cx="38100" cy="3600000"/>
          </a:xfrm>
          <a:prstGeom prst="rect">
            <a:avLst/>
          </a:prstGeom>
          <a:solidFill>
            <a:srgbClr val="C8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0000" y="144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A95A"/>
                </a:solidFill>
                <a:latin typeface="Microsoft YaHei"/>
              </a:defRPr>
            </a:pPr>
            <a:r>
              <a:t>感 谢 聆 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34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员工专属旅游专列  ·  项目规划方案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306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期待您的宝贵意见与指导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